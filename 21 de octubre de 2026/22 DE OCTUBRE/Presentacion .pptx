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oriboon Heavy" charset="1" panose="02000A03000000000000"/>
      <p:regular r:id="rId13"/>
    </p:embeddedFont>
    <p:embeddedFont>
      <p:font typeface="Boriboon Bold" charset="1" panose="00000000000000000000"/>
      <p:regular r:id="rId14"/>
    </p:embeddedFont>
    <p:embeddedFont>
      <p:font typeface="Boriboon Semi-Bold" charset="1" panose="00000000000000000000"/>
      <p:regular r:id="rId15"/>
    </p:embeddedFont>
    <p:embeddedFont>
      <p:font typeface="Boriboon Light Italics" charset="1" panose="00000000000000000000"/>
      <p:regular r:id="rId16"/>
    </p:embeddedFont>
    <p:embeddedFont>
      <p:font typeface="Boriboon Italics" charset="1" panose="00000000000000000000"/>
      <p:regular r:id="rId17"/>
    </p:embeddedFont>
    <p:embeddedFont>
      <p:font typeface="Boriboon Light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0E47">
                <a:alpha val="100000"/>
              </a:srgbClr>
            </a:gs>
            <a:gs pos="100000">
              <a:srgbClr val="04041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5494">
            <a:off x="-7348680" y="-1668606"/>
            <a:ext cx="13670413" cy="13355116"/>
          </a:xfrm>
          <a:custGeom>
            <a:avLst/>
            <a:gdLst/>
            <a:ahLst/>
            <a:cxnLst/>
            <a:rect r="r" b="b" t="t" l="l"/>
            <a:pathLst>
              <a:path h="13355116" w="13670413">
                <a:moveTo>
                  <a:pt x="0" y="0"/>
                </a:moveTo>
                <a:lnTo>
                  <a:pt x="13670413" y="0"/>
                </a:lnTo>
                <a:lnTo>
                  <a:pt x="13670413" y="13355116"/>
                </a:lnTo>
                <a:lnTo>
                  <a:pt x="0" y="13355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25849" y="4451346"/>
            <a:ext cx="12233451" cy="261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78"/>
              </a:lnSpc>
            </a:pPr>
            <a:r>
              <a:rPr lang="en-US" b="true" sz="13998">
                <a:solidFill>
                  <a:srgbClr val="FFFFFF"/>
                </a:solidFill>
                <a:latin typeface="Boriboon Heavy"/>
                <a:ea typeface="Boriboon Heavy"/>
                <a:cs typeface="Boriboon Heavy"/>
                <a:sym typeface="Boriboon Heavy"/>
              </a:rPr>
              <a:t>VECTORES Y MATRICES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6729">
            <a:off x="360500" y="647700"/>
            <a:ext cx="6208427" cy="10704184"/>
          </a:xfrm>
          <a:custGeom>
            <a:avLst/>
            <a:gdLst/>
            <a:ahLst/>
            <a:cxnLst/>
            <a:rect r="r" b="b" t="t" l="l"/>
            <a:pathLst>
              <a:path h="10704184" w="6208427">
                <a:moveTo>
                  <a:pt x="0" y="0"/>
                </a:moveTo>
                <a:lnTo>
                  <a:pt x="6208427" y="0"/>
                </a:lnTo>
                <a:lnTo>
                  <a:pt x="6208427" y="10704184"/>
                </a:lnTo>
                <a:lnTo>
                  <a:pt x="0" y="1070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3581400" cy="10287000"/>
            <a:chOff x="0" y="0"/>
            <a:chExt cx="94324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32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943249">
                  <a:moveTo>
                    <a:pt x="0" y="0"/>
                  </a:moveTo>
                  <a:lnTo>
                    <a:pt x="943249" y="0"/>
                  </a:lnTo>
                  <a:lnTo>
                    <a:pt x="94324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F0E47">
                    <a:alpha val="100000"/>
                  </a:srgbClr>
                </a:gs>
                <a:gs pos="100000">
                  <a:srgbClr val="04041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43249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-5400000">
            <a:off x="-2094548" y="4390072"/>
            <a:ext cx="8229600" cy="150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84"/>
              </a:lnSpc>
            </a:pPr>
            <a:r>
              <a:rPr lang="en-US" b="true" sz="11499">
                <a:solidFill>
                  <a:srgbClr val="FFFFFF"/>
                </a:solidFill>
                <a:latin typeface="Boriboon Bold"/>
                <a:ea typeface="Boriboon Bold"/>
                <a:cs typeface="Boriboon Bold"/>
                <a:sym typeface="Boriboon Bold"/>
              </a:rPr>
              <a:t>¿QUE SON?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8273" y="3724079"/>
            <a:ext cx="10287660" cy="51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999">
                <a:solidFill>
                  <a:srgbClr val="0F0E47"/>
                </a:solidFill>
                <a:latin typeface="Boriboon Semi-Bold"/>
                <a:ea typeface="Boriboon Semi-Bold"/>
                <a:cs typeface="Boriboon Semi-Bold"/>
                <a:sym typeface="Boriboon Semi-Bold"/>
              </a:rPr>
              <a:t>vectores y matrices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18273" y="5467075"/>
            <a:ext cx="10287660" cy="135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6"/>
              </a:lnSpc>
            </a:pPr>
            <a:r>
              <a:rPr lang="en-US" sz="5299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Bliblioteca donde se almacena elementos de un mismo tipo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0E47">
                <a:alpha val="100000"/>
              </a:srgbClr>
            </a:gs>
            <a:gs pos="100000">
              <a:srgbClr val="04041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5280" y="2549458"/>
            <a:ext cx="7537948" cy="5638800"/>
            <a:chOff x="0" y="0"/>
            <a:chExt cx="1985303" cy="148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5303" cy="1485116"/>
            </a:xfrm>
            <a:custGeom>
              <a:avLst/>
              <a:gdLst/>
              <a:ahLst/>
              <a:cxnLst/>
              <a:rect r="r" b="b" t="t" l="l"/>
              <a:pathLst>
                <a:path h="1485116" w="1985303">
                  <a:moveTo>
                    <a:pt x="20541" y="0"/>
                  </a:moveTo>
                  <a:lnTo>
                    <a:pt x="1964762" y="0"/>
                  </a:lnTo>
                  <a:cubicBezTo>
                    <a:pt x="1976107" y="0"/>
                    <a:pt x="1985303" y="9197"/>
                    <a:pt x="1985303" y="20541"/>
                  </a:cubicBezTo>
                  <a:lnTo>
                    <a:pt x="1985303" y="1464575"/>
                  </a:lnTo>
                  <a:cubicBezTo>
                    <a:pt x="1985303" y="1470023"/>
                    <a:pt x="1983139" y="1475247"/>
                    <a:pt x="1979287" y="1479100"/>
                  </a:cubicBezTo>
                  <a:cubicBezTo>
                    <a:pt x="1975435" y="1482952"/>
                    <a:pt x="1970210" y="1485116"/>
                    <a:pt x="1964762" y="1485116"/>
                  </a:cubicBezTo>
                  <a:lnTo>
                    <a:pt x="20541" y="1485116"/>
                  </a:lnTo>
                  <a:cubicBezTo>
                    <a:pt x="9197" y="1485116"/>
                    <a:pt x="0" y="1475919"/>
                    <a:pt x="0" y="1464575"/>
                  </a:cubicBezTo>
                  <a:lnTo>
                    <a:pt x="0" y="20541"/>
                  </a:lnTo>
                  <a:cubicBezTo>
                    <a:pt x="0" y="9197"/>
                    <a:pt x="9197" y="0"/>
                    <a:pt x="205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85303" cy="151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6071" y="2324100"/>
            <a:ext cx="7483229" cy="5638800"/>
            <a:chOff x="0" y="0"/>
            <a:chExt cx="1970892" cy="14851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0892" cy="1485116"/>
            </a:xfrm>
            <a:custGeom>
              <a:avLst/>
              <a:gdLst/>
              <a:ahLst/>
              <a:cxnLst/>
              <a:rect r="r" b="b" t="t" l="l"/>
              <a:pathLst>
                <a:path h="1485116" w="1970892">
                  <a:moveTo>
                    <a:pt x="20691" y="0"/>
                  </a:moveTo>
                  <a:lnTo>
                    <a:pt x="1950200" y="0"/>
                  </a:lnTo>
                  <a:cubicBezTo>
                    <a:pt x="1961628" y="0"/>
                    <a:pt x="1970892" y="9264"/>
                    <a:pt x="1970892" y="20691"/>
                  </a:cubicBezTo>
                  <a:lnTo>
                    <a:pt x="1970892" y="1464425"/>
                  </a:lnTo>
                  <a:cubicBezTo>
                    <a:pt x="1970892" y="1469912"/>
                    <a:pt x="1968712" y="1475175"/>
                    <a:pt x="1964831" y="1479056"/>
                  </a:cubicBezTo>
                  <a:cubicBezTo>
                    <a:pt x="1960951" y="1482936"/>
                    <a:pt x="1955688" y="1485116"/>
                    <a:pt x="1950200" y="1485116"/>
                  </a:cubicBezTo>
                  <a:lnTo>
                    <a:pt x="20691" y="1485116"/>
                  </a:lnTo>
                  <a:cubicBezTo>
                    <a:pt x="15204" y="1485116"/>
                    <a:pt x="9941" y="1482936"/>
                    <a:pt x="6060" y="1479056"/>
                  </a:cubicBezTo>
                  <a:cubicBezTo>
                    <a:pt x="2180" y="1475175"/>
                    <a:pt x="0" y="1469912"/>
                    <a:pt x="0" y="1464425"/>
                  </a:cubicBezTo>
                  <a:lnTo>
                    <a:pt x="0" y="20691"/>
                  </a:lnTo>
                  <a:cubicBezTo>
                    <a:pt x="0" y="15204"/>
                    <a:pt x="2180" y="9941"/>
                    <a:pt x="6060" y="6060"/>
                  </a:cubicBezTo>
                  <a:cubicBezTo>
                    <a:pt x="9941" y="2180"/>
                    <a:pt x="15204" y="0"/>
                    <a:pt x="206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970892" cy="151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129477" y="5936140"/>
            <a:ext cx="5351698" cy="6644320"/>
          </a:xfrm>
          <a:custGeom>
            <a:avLst/>
            <a:gdLst/>
            <a:ahLst/>
            <a:cxnLst/>
            <a:rect r="r" b="b" t="t" l="l"/>
            <a:pathLst>
              <a:path h="6644320" w="5351698">
                <a:moveTo>
                  <a:pt x="0" y="0"/>
                </a:moveTo>
                <a:lnTo>
                  <a:pt x="5351698" y="0"/>
                </a:lnTo>
                <a:lnTo>
                  <a:pt x="5351698" y="6644320"/>
                </a:lnTo>
                <a:lnTo>
                  <a:pt x="0" y="664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741158"/>
            <a:ext cx="5321842" cy="70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0"/>
              </a:lnSpc>
            </a:pPr>
            <a:r>
              <a:rPr lang="en-US" b="true" sz="7000">
                <a:solidFill>
                  <a:srgbClr val="FFFFFF"/>
                </a:solidFill>
                <a:latin typeface="Boriboon Heavy"/>
                <a:ea typeface="Boriboon Heavy"/>
                <a:cs typeface="Boriboon Heavy"/>
                <a:sym typeface="Boriboon Heavy"/>
              </a:rPr>
              <a:t>COLUMNAS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3171" y="1614799"/>
            <a:ext cx="5321842" cy="70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0"/>
              </a:lnSpc>
            </a:pPr>
            <a:r>
              <a:rPr lang="en-US" b="true" sz="7000">
                <a:solidFill>
                  <a:srgbClr val="FFFFFF"/>
                </a:solidFill>
                <a:latin typeface="Boriboon Heavy"/>
                <a:ea typeface="Boriboon Heavy"/>
                <a:cs typeface="Boriboon Heavy"/>
                <a:sym typeface="Boriboon Heavy"/>
              </a:rPr>
              <a:t>FILAS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280" y="6329001"/>
            <a:ext cx="7695228" cy="75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1</a:t>
            </a:r>
          </a:p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biologia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4382" y="6329001"/>
            <a:ext cx="7695228" cy="75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Italics"/>
                <a:ea typeface="Boriboon Italics"/>
                <a:cs typeface="Boriboon Italics"/>
                <a:sym typeface="Boriboon Italics"/>
              </a:rPr>
              <a:t>2</a:t>
            </a:r>
          </a:p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Italics"/>
                <a:ea typeface="Boriboon Italics"/>
                <a:cs typeface="Boriboon Italics"/>
                <a:sym typeface="Boriboon Italics"/>
              </a:rPr>
              <a:t>matematicas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51152" y="6329001"/>
            <a:ext cx="7695228" cy="75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Italics"/>
                <a:ea typeface="Boriboon Italics"/>
                <a:cs typeface="Boriboon Italics"/>
                <a:sym typeface="Boriboon Italics"/>
              </a:rPr>
              <a:t>3</a:t>
            </a:r>
          </a:p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Italics"/>
                <a:ea typeface="Boriboon Italics"/>
                <a:cs typeface="Boriboon Italics"/>
                <a:sym typeface="Boriboon Italics"/>
              </a:rPr>
              <a:t>filosofia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46393" y="6320244"/>
            <a:ext cx="7695228" cy="75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4 </a:t>
            </a:r>
          </a:p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ciencias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53076" y="6329001"/>
            <a:ext cx="7695228" cy="75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Italics"/>
                <a:ea typeface="Boriboon Italics"/>
                <a:cs typeface="Boriboon Italics"/>
                <a:sym typeface="Boriboon Italics"/>
              </a:rPr>
              <a:t>5</a:t>
            </a:r>
          </a:p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Italics"/>
                <a:ea typeface="Boriboon Italics"/>
                <a:cs typeface="Boriboon Italics"/>
                <a:sym typeface="Boriboon Italics"/>
              </a:rPr>
              <a:t>anatomia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382" y="3213735"/>
            <a:ext cx="6037469" cy="62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4"/>
              </a:lnSpc>
            </a:pPr>
            <a:r>
              <a:rPr lang="en-US" b="true" sz="4812">
                <a:gradFill>
                  <a:gsLst>
                    <a:gs pos="0">
                      <a:srgbClr val="0F0E47">
                        <a:alpha val="100000"/>
                      </a:srgbClr>
                    </a:gs>
                    <a:gs pos="100000">
                      <a:srgbClr val="040414">
                        <a:alpha val="100000"/>
                      </a:srgbClr>
                    </a:gs>
                  </a:gsLst>
                  <a:lin ang="5400000"/>
                </a:gradFill>
                <a:latin typeface="Boriboon Bold"/>
                <a:ea typeface="Boriboon Bold"/>
                <a:cs typeface="Boriboon Bold"/>
                <a:sym typeface="Boriboon Bold"/>
              </a:rPr>
              <a:t>NOMBRE_VECTOR [C]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735473" y="4514207"/>
            <a:ext cx="6037469" cy="62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4"/>
              </a:lnSpc>
            </a:pPr>
            <a:r>
              <a:rPr lang="en-US" b="true" sz="4812">
                <a:gradFill>
                  <a:gsLst>
                    <a:gs pos="0">
                      <a:srgbClr val="0F0E47">
                        <a:alpha val="100000"/>
                      </a:srgbClr>
                    </a:gs>
                    <a:gs pos="100000">
                      <a:srgbClr val="040414">
                        <a:alpha val="100000"/>
                      </a:srgbClr>
                    </a:gs>
                  </a:gsLst>
                  <a:lin ang="5400000"/>
                </a:gradFill>
                <a:latin typeface="Boriboon Bold"/>
                <a:ea typeface="Boriboon Bold"/>
                <a:cs typeface="Boriboon Bold"/>
                <a:sym typeface="Boriboon Bold"/>
              </a:rPr>
              <a:t>BIBLIOTECA[4]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693904" y="3783986"/>
            <a:ext cx="6037469" cy="62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4"/>
              </a:lnSpc>
            </a:pPr>
            <a:r>
              <a:rPr lang="en-US" b="true" sz="4812">
                <a:gradFill>
                  <a:gsLst>
                    <a:gs pos="0">
                      <a:srgbClr val="0F0E47">
                        <a:alpha val="100000"/>
                      </a:srgbClr>
                    </a:gs>
                    <a:gs pos="100000">
                      <a:srgbClr val="040414">
                        <a:alpha val="100000"/>
                      </a:srgbClr>
                    </a:gs>
                  </a:gsLst>
                  <a:lin ang="5400000"/>
                </a:gradFill>
                <a:latin typeface="Boriboon Bold"/>
                <a:ea typeface="Boriboon Bold"/>
                <a:cs typeface="Boriboon Bold"/>
                <a:sym typeface="Boriboon Bold"/>
              </a:rPr>
              <a:t>BIBLIOTECA[5]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25358" y="3053766"/>
            <a:ext cx="6037469" cy="62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4"/>
              </a:lnSpc>
            </a:pPr>
            <a:r>
              <a:rPr lang="en-US" b="true" sz="4812">
                <a:gradFill>
                  <a:gsLst>
                    <a:gs pos="0">
                      <a:srgbClr val="0F0E47">
                        <a:alpha val="100000"/>
                      </a:srgbClr>
                    </a:gs>
                    <a:gs pos="100000">
                      <a:srgbClr val="040414">
                        <a:alpha val="100000"/>
                      </a:srgbClr>
                    </a:gs>
                  </a:gsLst>
                  <a:lin ang="5400000"/>
                </a:gradFill>
                <a:latin typeface="Boriboon Bold"/>
                <a:ea typeface="Boriboon Bold"/>
                <a:cs typeface="Boriboon Bold"/>
                <a:sym typeface="Boriboon Bold"/>
              </a:rPr>
              <a:t>NOMBRE_VECTOR [F]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62572" y="3881668"/>
            <a:ext cx="6037469" cy="62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4"/>
              </a:lnSpc>
            </a:pPr>
            <a:r>
              <a:rPr lang="en-US" b="true" sz="4812">
                <a:gradFill>
                  <a:gsLst>
                    <a:gs pos="0">
                      <a:srgbClr val="0F0E47">
                        <a:alpha val="100000"/>
                      </a:srgbClr>
                    </a:gs>
                    <a:gs pos="100000">
                      <a:srgbClr val="040414">
                        <a:alpha val="100000"/>
                      </a:srgbClr>
                    </a:gs>
                  </a:gsLst>
                  <a:lin ang="5400000"/>
                </a:gradFill>
                <a:latin typeface="Boriboon Bold"/>
                <a:ea typeface="Boriboon Bold"/>
                <a:cs typeface="Boriboon Bold"/>
                <a:sym typeface="Boriboon Bold"/>
              </a:rPr>
              <a:t>BIBLIOTECA[5]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2887" y="4611888"/>
            <a:ext cx="6037469" cy="62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4"/>
              </a:lnSpc>
            </a:pPr>
            <a:r>
              <a:rPr lang="en-US" b="true" sz="4812">
                <a:gradFill>
                  <a:gsLst>
                    <a:gs pos="0">
                      <a:srgbClr val="0F0E47">
                        <a:alpha val="100000"/>
                      </a:srgbClr>
                    </a:gs>
                    <a:gs pos="100000">
                      <a:srgbClr val="040414">
                        <a:alpha val="100000"/>
                      </a:srgbClr>
                    </a:gs>
                  </a:gsLst>
                  <a:lin ang="5400000"/>
                </a:gradFill>
                <a:latin typeface="Boriboon Bold"/>
                <a:ea typeface="Boriboon Bold"/>
                <a:cs typeface="Boriboon Bold"/>
                <a:sym typeface="Boriboon Bold"/>
              </a:rPr>
              <a:t>BIBLIOTECA[4]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63444" y="5332309"/>
            <a:ext cx="7695228" cy="1865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1 BIOLOGIA</a:t>
            </a:r>
          </a:p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2 MATEMATICAS</a:t>
            </a:r>
          </a:p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3 FILOSOFIA</a:t>
            </a:r>
          </a:p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4 CIENCIAS</a:t>
            </a:r>
          </a:p>
          <a:p>
            <a:pPr algn="l">
              <a:lnSpc>
                <a:spcPts val="2962"/>
              </a:lnSpc>
            </a:pPr>
            <a:r>
              <a:rPr lang="en-US" sz="2992" i="true">
                <a:solidFill>
                  <a:srgbClr val="0F0E47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5 ANATOMIA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0E47">
                <a:alpha val="100000"/>
              </a:srgbClr>
            </a:gs>
            <a:gs pos="100000">
              <a:srgbClr val="04041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5280" y="2549458"/>
            <a:ext cx="12024878" cy="5638800"/>
            <a:chOff x="0" y="0"/>
            <a:chExt cx="3167046" cy="148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67046" cy="1485116"/>
            </a:xfrm>
            <a:custGeom>
              <a:avLst/>
              <a:gdLst/>
              <a:ahLst/>
              <a:cxnLst/>
              <a:rect r="r" b="b" t="t" l="l"/>
              <a:pathLst>
                <a:path h="1485116" w="3167046">
                  <a:moveTo>
                    <a:pt x="12877" y="0"/>
                  </a:moveTo>
                  <a:lnTo>
                    <a:pt x="3154169" y="0"/>
                  </a:lnTo>
                  <a:cubicBezTo>
                    <a:pt x="3161281" y="0"/>
                    <a:pt x="3167046" y="5765"/>
                    <a:pt x="3167046" y="12877"/>
                  </a:cubicBezTo>
                  <a:lnTo>
                    <a:pt x="3167046" y="1472239"/>
                  </a:lnTo>
                  <a:cubicBezTo>
                    <a:pt x="3167046" y="1475655"/>
                    <a:pt x="3165689" y="1478930"/>
                    <a:pt x="3163275" y="1481345"/>
                  </a:cubicBezTo>
                  <a:cubicBezTo>
                    <a:pt x="3160860" y="1483759"/>
                    <a:pt x="3157585" y="1485116"/>
                    <a:pt x="3154169" y="1485116"/>
                  </a:cubicBezTo>
                  <a:lnTo>
                    <a:pt x="12877" y="1485116"/>
                  </a:lnTo>
                  <a:cubicBezTo>
                    <a:pt x="5765" y="1485116"/>
                    <a:pt x="0" y="1479351"/>
                    <a:pt x="0" y="1472239"/>
                  </a:cubicBezTo>
                  <a:lnTo>
                    <a:pt x="0" y="12877"/>
                  </a:lnTo>
                  <a:cubicBezTo>
                    <a:pt x="0" y="9461"/>
                    <a:pt x="1357" y="6186"/>
                    <a:pt x="3771" y="3771"/>
                  </a:cubicBezTo>
                  <a:cubicBezTo>
                    <a:pt x="6186" y="1357"/>
                    <a:pt x="9461" y="0"/>
                    <a:pt x="128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3167046" cy="1380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6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29477" y="5936140"/>
            <a:ext cx="5351698" cy="6644320"/>
          </a:xfrm>
          <a:custGeom>
            <a:avLst/>
            <a:gdLst/>
            <a:ahLst/>
            <a:cxnLst/>
            <a:rect r="r" b="b" t="t" l="l"/>
            <a:pathLst>
              <a:path h="6644320" w="5351698">
                <a:moveTo>
                  <a:pt x="0" y="0"/>
                </a:moveTo>
                <a:lnTo>
                  <a:pt x="5351698" y="0"/>
                </a:lnTo>
                <a:lnTo>
                  <a:pt x="5351698" y="6644320"/>
                </a:lnTo>
                <a:lnTo>
                  <a:pt x="0" y="664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741158"/>
            <a:ext cx="5321842" cy="70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0"/>
              </a:lnSpc>
            </a:pPr>
            <a:r>
              <a:rPr lang="en-US" b="true" sz="7000">
                <a:solidFill>
                  <a:srgbClr val="FFFFFF"/>
                </a:solidFill>
                <a:latin typeface="Boriboon Heavy"/>
                <a:ea typeface="Boriboon Heavy"/>
                <a:cs typeface="Boriboon Heavy"/>
                <a:sym typeface="Boriboon Heavy"/>
              </a:rPr>
              <a:t>MATRICES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519573"/>
            <a:ext cx="6167818" cy="62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4"/>
              </a:lnSpc>
              <a:spcBef>
                <a:spcPct val="0"/>
              </a:spcBef>
            </a:pPr>
            <a:r>
              <a:rPr lang="en-US" b="true" sz="4812" strike="noStrike" u="none">
                <a:gradFill>
                  <a:gsLst>
                    <a:gs pos="0">
                      <a:srgbClr val="0F0E47">
                        <a:alpha val="100000"/>
                      </a:srgbClr>
                    </a:gs>
                    <a:gs pos="100000">
                      <a:srgbClr val="040414">
                        <a:alpha val="100000"/>
                      </a:srgbClr>
                    </a:gs>
                  </a:gsLst>
                  <a:lin ang="5400000"/>
                </a:gradFill>
                <a:latin typeface="Boriboon Bold"/>
                <a:ea typeface="Boriboon Bold"/>
                <a:cs typeface="Boriboon Bold"/>
                <a:sym typeface="Boriboon Bold"/>
              </a:rPr>
              <a:t>NOMBRE_VECTOR [C]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987114" y="4519854"/>
            <a:ext cx="6167818" cy="62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4"/>
              </a:lnSpc>
              <a:spcBef>
                <a:spcPct val="0"/>
              </a:spcBef>
            </a:pPr>
            <a:r>
              <a:rPr lang="en-US" b="true" sz="4812">
                <a:gradFill>
                  <a:gsLst>
                    <a:gs pos="0">
                      <a:srgbClr val="0F0E47">
                        <a:alpha val="100000"/>
                      </a:srgbClr>
                    </a:gs>
                    <a:gs pos="100000">
                      <a:srgbClr val="040414">
                        <a:alpha val="100000"/>
                      </a:srgbClr>
                    </a:gs>
                  </a:gsLst>
                  <a:lin ang="5400000"/>
                </a:gradFill>
                <a:latin typeface="Boriboon Bold"/>
                <a:ea typeface="Boriboon Bold"/>
                <a:cs typeface="Boriboon Bold"/>
                <a:sym typeface="Boriboon Bold"/>
              </a:rPr>
              <a:t>ORDEN [3,4]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30375" y="4283786"/>
            <a:ext cx="114002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66643" y="5095875"/>
            <a:ext cx="201811" cy="206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1</a:t>
            </a:r>
          </a:p>
          <a:p>
            <a:pPr algn="ctr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2</a:t>
            </a:r>
          </a:p>
          <a:p>
            <a:pPr algn="ctr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3</a:t>
            </a:r>
          </a:p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59650" y="4283786"/>
            <a:ext cx="201811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91977" y="4283786"/>
            <a:ext cx="195709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27503" y="4283786"/>
            <a:ext cx="189309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38995" y="5097294"/>
            <a:ext cx="296763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1,1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68270" y="5095875"/>
            <a:ext cx="384572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1,2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4501" y="5094456"/>
            <a:ext cx="378470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1,3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20880" y="5093037"/>
            <a:ext cx="372070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1,4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52091" y="5657749"/>
            <a:ext cx="384572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2,1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71842" y="5664576"/>
            <a:ext cx="472380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2,2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38548" y="5671403"/>
            <a:ext cx="466279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2,3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05402" y="5678230"/>
            <a:ext cx="459879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2,4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55142" y="6126108"/>
            <a:ext cx="378470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3,1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27417" y="6105626"/>
            <a:ext cx="466279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3,2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46646" y="6085145"/>
            <a:ext cx="460177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3,3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80027" y="6085145"/>
            <a:ext cx="453777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3,4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58342" y="6688286"/>
            <a:ext cx="372070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4,1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78093" y="6688286"/>
            <a:ext cx="459879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4,2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44798" y="6688286"/>
            <a:ext cx="453777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4,3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11727" y="6688286"/>
            <a:ext cx="447229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4,4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653356" y="-3006975"/>
            <a:ext cx="11670480" cy="6535469"/>
          </a:xfrm>
          <a:custGeom>
            <a:avLst/>
            <a:gdLst/>
            <a:ahLst/>
            <a:cxnLst/>
            <a:rect r="r" b="b" t="t" l="l"/>
            <a:pathLst>
              <a:path h="6535469" w="11670480">
                <a:moveTo>
                  <a:pt x="0" y="0"/>
                </a:moveTo>
                <a:lnTo>
                  <a:pt x="11670481" y="0"/>
                </a:lnTo>
                <a:lnTo>
                  <a:pt x="11670481" y="6535469"/>
                </a:lnTo>
                <a:lnTo>
                  <a:pt x="0" y="653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3581400" cy="10287000"/>
            <a:chOff x="0" y="0"/>
            <a:chExt cx="94324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32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943249">
                  <a:moveTo>
                    <a:pt x="0" y="0"/>
                  </a:moveTo>
                  <a:lnTo>
                    <a:pt x="943249" y="0"/>
                  </a:lnTo>
                  <a:lnTo>
                    <a:pt x="94324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F0E47">
                    <a:alpha val="100000"/>
                  </a:srgbClr>
                </a:gs>
                <a:gs pos="100000">
                  <a:srgbClr val="04041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43249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-5400000">
            <a:off x="-2347522" y="4576372"/>
            <a:ext cx="8229600" cy="113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14"/>
              </a:lnSpc>
            </a:pPr>
            <a:r>
              <a:rPr lang="en-US" b="true" sz="8600">
                <a:solidFill>
                  <a:srgbClr val="FFFFFF"/>
                </a:solidFill>
                <a:latin typeface="Boriboon Bold"/>
                <a:ea typeface="Boriboon Bold"/>
                <a:cs typeface="Boriboon Bold"/>
                <a:sym typeface="Boriboon Bold"/>
              </a:rPr>
              <a:t>PSEUDOCODIGO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1640" y="3149533"/>
            <a:ext cx="10287660" cy="51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999">
                <a:solidFill>
                  <a:srgbClr val="0F0E47"/>
                </a:solidFill>
                <a:latin typeface="Boriboon Semi-Bold"/>
                <a:ea typeface="Boriboon Semi-Bold"/>
                <a:cs typeface="Boriboon Semi-Bold"/>
                <a:sym typeface="Boriboon Semi-Bold"/>
              </a:rPr>
              <a:t>VECTORES Y MATRICES EN PSEUDOCOSIGO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71640" y="4627245"/>
            <a:ext cx="10287660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>
                <a:solidFill>
                  <a:srgbClr val="0F0E47"/>
                </a:solidFill>
                <a:latin typeface="Boriboon Light"/>
                <a:ea typeface="Boriboon Light"/>
                <a:cs typeface="Boriboon Light"/>
                <a:sym typeface="Boriboon Light"/>
              </a:rPr>
              <a:t>A diferencia d elas diapositivas anteriores, en pseudocodigo se manejan tipos de datos.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0E47">
                <a:alpha val="100000"/>
              </a:srgbClr>
            </a:gs>
            <a:gs pos="100000">
              <a:srgbClr val="04041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2466" y="2324100"/>
            <a:ext cx="12024878" cy="7116204"/>
            <a:chOff x="0" y="0"/>
            <a:chExt cx="3167046" cy="18742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67046" cy="1874226"/>
            </a:xfrm>
            <a:custGeom>
              <a:avLst/>
              <a:gdLst/>
              <a:ahLst/>
              <a:cxnLst/>
              <a:rect r="r" b="b" t="t" l="l"/>
              <a:pathLst>
                <a:path h="1874226" w="3167046">
                  <a:moveTo>
                    <a:pt x="12877" y="0"/>
                  </a:moveTo>
                  <a:lnTo>
                    <a:pt x="3154169" y="0"/>
                  </a:lnTo>
                  <a:cubicBezTo>
                    <a:pt x="3161281" y="0"/>
                    <a:pt x="3167046" y="5765"/>
                    <a:pt x="3167046" y="12877"/>
                  </a:cubicBezTo>
                  <a:lnTo>
                    <a:pt x="3167046" y="1861350"/>
                  </a:lnTo>
                  <a:cubicBezTo>
                    <a:pt x="3167046" y="1864765"/>
                    <a:pt x="3165689" y="1868040"/>
                    <a:pt x="3163275" y="1870455"/>
                  </a:cubicBezTo>
                  <a:cubicBezTo>
                    <a:pt x="3160860" y="1872870"/>
                    <a:pt x="3157585" y="1874226"/>
                    <a:pt x="3154169" y="1874226"/>
                  </a:cubicBezTo>
                  <a:lnTo>
                    <a:pt x="12877" y="1874226"/>
                  </a:lnTo>
                  <a:cubicBezTo>
                    <a:pt x="5765" y="1874226"/>
                    <a:pt x="0" y="1868462"/>
                    <a:pt x="0" y="1861350"/>
                  </a:cubicBezTo>
                  <a:lnTo>
                    <a:pt x="0" y="12877"/>
                  </a:lnTo>
                  <a:cubicBezTo>
                    <a:pt x="0" y="9461"/>
                    <a:pt x="1357" y="6186"/>
                    <a:pt x="3771" y="3771"/>
                  </a:cubicBezTo>
                  <a:cubicBezTo>
                    <a:pt x="6186" y="1357"/>
                    <a:pt x="9461" y="0"/>
                    <a:pt x="128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3167046" cy="1769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6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29477" y="5936140"/>
            <a:ext cx="5351698" cy="6644320"/>
          </a:xfrm>
          <a:custGeom>
            <a:avLst/>
            <a:gdLst/>
            <a:ahLst/>
            <a:cxnLst/>
            <a:rect r="r" b="b" t="t" l="l"/>
            <a:pathLst>
              <a:path h="6644320" w="5351698">
                <a:moveTo>
                  <a:pt x="0" y="0"/>
                </a:moveTo>
                <a:lnTo>
                  <a:pt x="5351698" y="0"/>
                </a:lnTo>
                <a:lnTo>
                  <a:pt x="5351698" y="6644320"/>
                </a:lnTo>
                <a:lnTo>
                  <a:pt x="0" y="664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64633" y="1303408"/>
            <a:ext cx="5321842" cy="70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0"/>
              </a:lnSpc>
            </a:pPr>
            <a:r>
              <a:rPr lang="en-US" b="true" sz="7000">
                <a:solidFill>
                  <a:srgbClr val="FFFFFF"/>
                </a:solidFill>
                <a:latin typeface="Boriboon Heavy"/>
                <a:ea typeface="Boriboon Heavy"/>
                <a:cs typeface="Boriboon Heavy"/>
                <a:sym typeface="Boriboon Heavy"/>
              </a:rPr>
              <a:t>MATRICES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10549"/>
            <a:ext cx="768697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inicio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58427"/>
            <a:ext cx="4571644" cy="5734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definir datos = entero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dimension datos [4]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datos[1] = 10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datos[2] = -5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datos[3] = 2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datos[4] = 0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para i ← 1 hasta hacer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        escribir datos [i] sin saltar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finpara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escribir datos []</a:t>
            </a:r>
          </a:p>
          <a:p>
            <a:pPr algn="l">
              <a:lnSpc>
                <a:spcPts val="41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0E47">
                <a:alpha val="100000"/>
              </a:srgbClr>
            </a:gs>
            <a:gs pos="100000">
              <a:srgbClr val="04041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5669" y="2378038"/>
            <a:ext cx="12024878" cy="7908962"/>
            <a:chOff x="0" y="0"/>
            <a:chExt cx="3167046" cy="20830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67046" cy="2083019"/>
            </a:xfrm>
            <a:custGeom>
              <a:avLst/>
              <a:gdLst/>
              <a:ahLst/>
              <a:cxnLst/>
              <a:rect r="r" b="b" t="t" l="l"/>
              <a:pathLst>
                <a:path h="2083019" w="3167046">
                  <a:moveTo>
                    <a:pt x="12877" y="0"/>
                  </a:moveTo>
                  <a:lnTo>
                    <a:pt x="3154169" y="0"/>
                  </a:lnTo>
                  <a:cubicBezTo>
                    <a:pt x="3161281" y="0"/>
                    <a:pt x="3167046" y="5765"/>
                    <a:pt x="3167046" y="12877"/>
                  </a:cubicBezTo>
                  <a:lnTo>
                    <a:pt x="3167046" y="2070142"/>
                  </a:lnTo>
                  <a:cubicBezTo>
                    <a:pt x="3167046" y="2073557"/>
                    <a:pt x="3165689" y="2076833"/>
                    <a:pt x="3163275" y="2079247"/>
                  </a:cubicBezTo>
                  <a:cubicBezTo>
                    <a:pt x="3160860" y="2081662"/>
                    <a:pt x="3157585" y="2083019"/>
                    <a:pt x="3154169" y="2083019"/>
                  </a:cubicBezTo>
                  <a:lnTo>
                    <a:pt x="12877" y="2083019"/>
                  </a:lnTo>
                  <a:cubicBezTo>
                    <a:pt x="9461" y="2083019"/>
                    <a:pt x="6186" y="2081662"/>
                    <a:pt x="3771" y="2079247"/>
                  </a:cubicBezTo>
                  <a:cubicBezTo>
                    <a:pt x="1357" y="2076833"/>
                    <a:pt x="0" y="2073557"/>
                    <a:pt x="0" y="2070142"/>
                  </a:cubicBezTo>
                  <a:lnTo>
                    <a:pt x="0" y="12877"/>
                  </a:lnTo>
                  <a:cubicBezTo>
                    <a:pt x="0" y="9461"/>
                    <a:pt x="1357" y="6186"/>
                    <a:pt x="3771" y="3771"/>
                  </a:cubicBezTo>
                  <a:cubicBezTo>
                    <a:pt x="6186" y="1357"/>
                    <a:pt x="9461" y="0"/>
                    <a:pt x="128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3167046" cy="1978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6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29477" y="5936140"/>
            <a:ext cx="5351698" cy="6644320"/>
          </a:xfrm>
          <a:custGeom>
            <a:avLst/>
            <a:gdLst/>
            <a:ahLst/>
            <a:cxnLst/>
            <a:rect r="r" b="b" t="t" l="l"/>
            <a:pathLst>
              <a:path h="6644320" w="5351698">
                <a:moveTo>
                  <a:pt x="0" y="0"/>
                </a:moveTo>
                <a:lnTo>
                  <a:pt x="5351698" y="0"/>
                </a:lnTo>
                <a:lnTo>
                  <a:pt x="5351698" y="6644320"/>
                </a:lnTo>
                <a:lnTo>
                  <a:pt x="0" y="664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64633" y="1303408"/>
            <a:ext cx="5321842" cy="70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0"/>
              </a:lnSpc>
            </a:pPr>
            <a:r>
              <a:rPr lang="en-US" b="true" sz="7000">
                <a:solidFill>
                  <a:srgbClr val="FFFFFF"/>
                </a:solidFill>
                <a:latin typeface="Boriboon Heavy"/>
                <a:ea typeface="Boriboon Heavy"/>
                <a:cs typeface="Boriboon Heavy"/>
                <a:sym typeface="Boriboon Heavy"/>
              </a:rPr>
              <a:t>MATRICES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10549"/>
            <a:ext cx="768697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inicio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58427"/>
            <a:ext cx="4571644" cy="887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definir datos = texto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dimension datos [3,3]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 [1,1]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 [1,2]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 [1,3]</a:t>
            </a:r>
          </a:p>
          <a:p>
            <a:pPr algn="l">
              <a:lnSpc>
                <a:spcPts val="4188"/>
              </a:lnSpc>
            </a:pP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 [2,1]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 [2,2]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 [2,3]</a:t>
            </a:r>
          </a:p>
          <a:p>
            <a:pPr algn="l">
              <a:lnSpc>
                <a:spcPts val="4188"/>
              </a:lnSpc>
            </a:pP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 [3,1]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 [3,2]</a:t>
            </a:r>
          </a:p>
          <a:p>
            <a:pPr algn="l">
              <a:lnSpc>
                <a:spcPts val="4188"/>
              </a:lnSpc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datos [3,3]</a:t>
            </a:r>
          </a:p>
          <a:p>
            <a:pPr algn="l">
              <a:lnSpc>
                <a:spcPts val="4188"/>
              </a:lnSpc>
            </a:pPr>
          </a:p>
          <a:p>
            <a:pPr algn="l">
              <a:lnSpc>
                <a:spcPts val="4188"/>
              </a:lnSpc>
            </a:pPr>
          </a:p>
          <a:p>
            <a:pPr algn="l">
              <a:lnSpc>
                <a:spcPts val="4188"/>
              </a:lnSpc>
            </a:pPr>
          </a:p>
          <a:p>
            <a:pPr algn="l">
              <a:lnSpc>
                <a:spcPts val="418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114800" y="2710549"/>
            <a:ext cx="3391793" cy="154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para i  ← 1  hasta hacer</a:t>
            </a:r>
          </a:p>
          <a:p>
            <a:pPr algn="ctr">
              <a:lnSpc>
                <a:spcPts val="4186"/>
              </a:lnSpc>
            </a:pPr>
          </a:p>
          <a:p>
            <a:pPr algn="ctr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114800" y="5095875"/>
            <a:ext cx="1125438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fin para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40968" y="6130465"/>
            <a:ext cx="2673102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escribir datos [3,3]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51183" y="3158427"/>
            <a:ext cx="3391793" cy="154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para i  ← 1  hasta hacer</a:t>
            </a:r>
          </a:p>
          <a:p>
            <a:pPr algn="ctr">
              <a:lnSpc>
                <a:spcPts val="4186"/>
              </a:lnSpc>
            </a:pPr>
          </a:p>
          <a:p>
            <a:pPr algn="ctr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888632" y="4430167"/>
            <a:ext cx="1125438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fin para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60428" y="3764459"/>
            <a:ext cx="3929509" cy="4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  <a:spcBef>
                <a:spcPct val="0"/>
              </a:spcBef>
            </a:pPr>
            <a:r>
              <a:rPr lang="en-US" sz="2992" i="true">
                <a:solidFill>
                  <a:srgbClr val="000000"/>
                </a:solidFill>
                <a:latin typeface="Boriboon Light Italics"/>
                <a:ea typeface="Boriboon Light Italics"/>
                <a:cs typeface="Boriboon Light Italics"/>
                <a:sym typeface="Boriboon Light Italics"/>
              </a:rPr>
              <a:t>esfcribir datos [i,i] sin saltar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DAHYu5w-5fE</dc:identifier>
  <dcterms:modified xsi:type="dcterms:W3CDTF">2011-08-01T06:04:30Z</dcterms:modified>
  <cp:revision>1</cp:revision>
  <dc:title>Presentación marketing moderno azul</dc:title>
</cp:coreProperties>
</file>